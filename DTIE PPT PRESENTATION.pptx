
<file path=[Content_Types].xml><?xml version="1.0" encoding="utf-8"?>
<ns0:Types xmlns:ns0="http://schemas.openxmlformats.org/package/2006/content-types">
  <ns0:Default Extension="bin" ContentType="application/vnd.openxmlformats-officedocument.presentationml.printerSettings"/>
  <ns0:Default Extension="jpeg" ContentType="image/jpeg"/>
  <ns0:Default Extension="png" ContentType="image/png"/>
  <ns0:Default Extension="rels" ContentType="application/vnd.openxmlformats-package.relationships+xml"/>
  <ns0:Default Extension="xml" ContentType="application/xml"/>
  <ns0:Override PartName="/docProps/app.xml" ContentType="application/vnd.openxmlformats-officedocument.extended-properties+xml"/>
  <ns0:Override PartName="/docProps/core.xml" ContentType="application/vnd.openxmlformats-package.core-properties+xml"/>
  <ns0:Override PartName="/ppt/presProps.xml" ContentType="application/vnd.openxmlformats-officedocument.presentationml.presProps+xml"/>
  <ns0:Override PartName="/ppt/presentation.xml" ContentType="application/vnd.openxmlformats-officedocument.presentationml.presentation.main+xml"/>
  <ns0:Override PartName="/ppt/slideLayouts/slideLayout1.xml" ContentType="application/vnd.openxmlformats-officedocument.presentationml.slideLayout+xml"/>
  <ns0:Override PartName="/ppt/slideLayouts/slideLayout10.xml" ContentType="application/vnd.openxmlformats-officedocument.presentationml.slideLayout+xml"/>
  <ns0:Override PartName="/ppt/slideLayouts/slideLayout11.xml" ContentType="application/vnd.openxmlformats-officedocument.presentationml.slideLayout+xml"/>
  <ns0:Override PartName="/ppt/slideLayouts/slideLayout2.xml" ContentType="application/vnd.openxmlformats-officedocument.presentationml.slideLayout+xml"/>
  <ns0:Override PartName="/ppt/slideLayouts/slideLayout3.xml" ContentType="application/vnd.openxmlformats-officedocument.presentationml.slideLayout+xml"/>
  <ns0:Override PartName="/ppt/slideLayouts/slideLayout4.xml" ContentType="application/vnd.openxmlformats-officedocument.presentationml.slideLayout+xml"/>
  <ns0:Override PartName="/ppt/slideLayouts/slideLayout5.xml" ContentType="application/vnd.openxmlformats-officedocument.presentationml.slideLayout+xml"/>
  <ns0:Override PartName="/ppt/slideLayouts/slideLayout6.xml" ContentType="application/vnd.openxmlformats-officedocument.presentationml.slideLayout+xml"/>
  <ns0:Override PartName="/ppt/slideLayouts/slideLayout7.xml" ContentType="application/vnd.openxmlformats-officedocument.presentationml.slideLayout+xml"/>
  <ns0:Override PartName="/ppt/slideLayouts/slideLayout8.xml" ContentType="application/vnd.openxmlformats-officedocument.presentationml.slideLayout+xml"/>
  <ns0:Override PartName="/ppt/slideLayouts/slideLayout9.xml" ContentType="application/vnd.openxmlformats-officedocument.presentationml.slideLayout+xml"/>
  <ns0:Override PartName="/ppt/slideMasters/slideMaster1.xml" ContentType="application/vnd.openxmlformats-officedocument.presentationml.slideMaster+xml"/>
  <ns0:Override PartName="/ppt/slides/slide1.xml" ContentType="application/vnd.openxmlformats-officedocument.presentationml.slide+xml"/>
  <ns0:Override PartName="/ppt/slides/slide10.xml" ContentType="application/vnd.openxmlformats-officedocument.presentationml.slide+xml"/>
  <ns0:Override PartName="/ppt/slides/slide11.xml" ContentType="application/vnd.openxmlformats-officedocument.presentationml.slide+xml"/>
  <ns0:Override PartName="/ppt/slides/slide12.xml" ContentType="application/vnd.openxmlformats-officedocument.presentationml.slide+xml"/>
  <ns0:Override PartName="/ppt/slides/slide13.xml" ContentType="application/vnd.openxmlformats-officedocument.presentationml.slide+xml"/>
  <ns0:Override PartName="/ppt/slides/slide14.xml" ContentType="application/vnd.openxmlformats-officedocument.presentationml.slide+xml"/>
  <ns0:Override PartName="/ppt/slides/slide15.xml" ContentType="application/vnd.openxmlformats-officedocument.presentationml.slide+xml"/>
  <ns0:Override PartName="/ppt/slides/slide16.xml" ContentType="application/vnd.openxmlformats-officedocument.presentationml.slide+xml"/>
  <ns0:Override PartName="/ppt/slides/slide17.xml" ContentType="application/vnd.openxmlformats-officedocument.presentationml.slide+xml"/>
  <ns0:Override PartName="/ppt/slides/slide18.xml" ContentType="application/vnd.openxmlformats-officedocument.presentationml.slide+xml"/>
  <ns0:Override PartName="/ppt/slides/slide2.xml" ContentType="application/vnd.openxmlformats-officedocument.presentationml.slide+xml"/>
  <ns0:Override PartName="/ppt/slides/slide3.xml" ContentType="application/vnd.openxmlformats-officedocument.presentationml.slide+xml"/>
  <ns0:Override PartName="/ppt/slides/slide4.xml" ContentType="application/vnd.openxmlformats-officedocument.presentationml.slide+xml"/>
  <ns0:Override PartName="/ppt/slides/slide5.xml" ContentType="application/vnd.openxmlformats-officedocument.presentationml.slide+xml"/>
  <ns0:Override PartName="/ppt/slides/slide6.xml" ContentType="application/vnd.openxmlformats-officedocument.presentationml.slide+xml"/>
  <ns0:Override PartName="/ppt/slides/slide7.xml" ContentType="application/vnd.openxmlformats-officedocument.presentationml.slide+xml"/>
  <ns0:Override PartName="/ppt/slides/slide8.xml" ContentType="application/vnd.openxmlformats-officedocument.presentationml.slide+xml"/>
  <ns0:Override PartName="/ppt/slides/slide9.xml" ContentType="application/vnd.openxmlformats-officedocument.presentationml.slide+xml"/>
  <ns0:Override PartName="/ppt/tableStyles.xml" ContentType="application/vnd.openxmlformats-officedocument.presentationml.tableStyles+xml"/>
  <ns0:Override PartName="/ppt/theme/theme1.xml" ContentType="application/vnd.openxmlformats-officedocument.theme+xml"/>
  <ns0:Override PartName="/ppt/viewProps.xml" ContentType="application/vnd.openxmlformats-officedocument.presentationml.viewProps+xml"/>
  <ns0:Default Extension="fntdata" ContentType="application/x-fontdata"/>
</ns0: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ns0:presentation xmlns:ns0="http://schemas.openxmlformats.org/presentationml/2006/main" xmlns:ns1="http://schemas.openxmlformats.org/officeDocument/2006/relationships" xmlns:ns2="http://schemas.openxmlformats.org/drawingml/2006/main" saveSubsetFonts="1" autoCompressPictures="0" embedTrueTypeFonts="1">
  <ns0:sldMasterIdLst>
    <ns0:sldMasterId id="2147483648" ns1:id="rId1"/>
  </ns0:sldMasterIdLst>
  <ns0:sldIdLst>
    <ns0:sldId id="256" ns1:id="rId7"/>
    <ns0:sldId id="257" ns1:id="rId8"/>
    <ns0:sldId id="258" ns1:id="rId9"/>
    <ns0:sldId id="259" ns1:id="rId10"/>
    <ns0:sldId id="260" ns1:id="rId11"/>
    <ns0:sldId id="261" ns1:id="rId12"/>
    <ns0:sldId id="262" ns1:id="rId13"/>
    <ns0:sldId id="263" ns1:id="rId14"/>
    <ns0:sldId id="264" ns1:id="rId15"/>
    <ns0:sldId id="265" ns1:id="rId16"/>
    <ns0:sldId id="266" ns1:id="rId17"/>
    <ns0:sldId id="267" ns1:id="rId18"/>
    <ns0:sldId id="268" ns1:id="rId19"/>
    <ns0:sldId id="269" ns1:id="rId20"/>
    <ns0:sldId id="270" ns1:id="rId21"/>
    <ns0:sldId id="271" ns1:id="rId22"/>
    <ns0:sldId id="272" ns1:id="rId23"/>
    <ns0:sldId id="273" ns1:id="rId24"/>
  </ns0:sldIdLst>
  <ns0:sldSz cx="12192000" cy="6858000" type="screen4x3"/>
  <ns0:notesSz cx="6858000" cy="9144000"/>
  <ns0:embeddedFontLst>
    <ns0:embeddedFont>
      <ns0:font typeface="Space Grotesk"/>
      <ns0:bold ns1:id="rIdFont25"/>
    </ns0:embeddedFont>
    <ns0:embeddedFont>
      <ns0:font typeface="JetBrains Mono"/>
      <ns0:regular ns1:id="rIdFont26"/>
    </ns0:embeddedFont>
    <ns0:embeddedFont>
      <ns0:font typeface="DM Sans"/>
      <ns0:bold ns1:id="rIdFont27"/>
      <ns0:regular ns1:id="rIdFont28"/>
    </ns0:embeddedFont>
  </ns0:embeddedFontLst>
  <ns0:defaultTextStyle>
    <ns2:defPPr>
      <ns2:defRPr lang="en-US"/>
    </ns2:defPPr>
    <ns2:lvl1pPr marL="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1pPr>
    <ns2:lvl2pPr marL="4572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2pPr>
    <ns2:lvl3pPr marL="9144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3pPr>
    <ns2:lvl4pPr marL="13716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4pPr>
    <ns2:lvl5pPr marL="18288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5pPr>
    <ns2:lvl6pPr marL="22860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6pPr>
    <ns2:lvl7pPr marL="27432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7pPr>
    <ns2:lvl8pPr marL="32004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8pPr>
    <ns2:lvl9pPr marL="36576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9pPr>
  </ns0:defaultTextStyle>
</ns0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?>
<ns0:Relationships xmlns:ns0="http://schemas.openxmlformats.org/package/2006/relationships"><ns0:Relationship Id="rId1" Type="http://schemas.openxmlformats.org/officeDocument/2006/relationships/slideMaster" Target="slideMasters/slideMaster1.xml" /><ns0:Relationship Id="rId2" Type="http://schemas.openxmlformats.org/officeDocument/2006/relationships/printerSettings" Target="printerSettings/printerSettings1.bin" /><ns0:Relationship Id="rId3" Type="http://schemas.openxmlformats.org/officeDocument/2006/relationships/presProps" Target="presProps.xml" /><ns0:Relationship Id="rId4" Type="http://schemas.openxmlformats.org/officeDocument/2006/relationships/viewProps" Target="viewProps.xml" /><ns0:Relationship Id="rId5" Type="http://schemas.openxmlformats.org/officeDocument/2006/relationships/theme" Target="theme/theme1.xml" /><ns0:Relationship Id="rId6" Type="http://schemas.openxmlformats.org/officeDocument/2006/relationships/tableStyles" Target="tableStyles.xml" /><ns0:Relationship Id="rId7" Type="http://schemas.openxmlformats.org/officeDocument/2006/relationships/slide" Target="slides/slide1.xml" /><ns0:Relationship Id="rId8" Type="http://schemas.openxmlformats.org/officeDocument/2006/relationships/slide" Target="slides/slide2.xml" /><ns0:Relationship Id="rId9" Type="http://schemas.openxmlformats.org/officeDocument/2006/relationships/slide" Target="slides/slide3.xml" /><ns0:Relationship Id="rId10" Type="http://schemas.openxmlformats.org/officeDocument/2006/relationships/slide" Target="slides/slide4.xml" /><ns0:Relationship Id="rId11" Type="http://schemas.openxmlformats.org/officeDocument/2006/relationships/slide" Target="slides/slide5.xml" /><ns0:Relationship Id="rId12" Type="http://schemas.openxmlformats.org/officeDocument/2006/relationships/slide" Target="slides/slide6.xml" /><ns0:Relationship Id="rId13" Type="http://schemas.openxmlformats.org/officeDocument/2006/relationships/slide" Target="slides/slide7.xml" /><ns0:Relationship Id="rId14" Type="http://schemas.openxmlformats.org/officeDocument/2006/relationships/slide" Target="slides/slide8.xml" /><ns0:Relationship Id="rId15" Type="http://schemas.openxmlformats.org/officeDocument/2006/relationships/slide" Target="slides/slide9.xml" /><ns0:Relationship Id="rId16" Type="http://schemas.openxmlformats.org/officeDocument/2006/relationships/slide" Target="slides/slide10.xml" /><ns0:Relationship Id="rId17" Type="http://schemas.openxmlformats.org/officeDocument/2006/relationships/slide" Target="slides/slide11.xml" /><ns0:Relationship Id="rId18" Type="http://schemas.openxmlformats.org/officeDocument/2006/relationships/slide" Target="slides/slide12.xml" /><ns0:Relationship Id="rId19" Type="http://schemas.openxmlformats.org/officeDocument/2006/relationships/slide" Target="slides/slide13.xml" /><ns0:Relationship Id="rId20" Type="http://schemas.openxmlformats.org/officeDocument/2006/relationships/slide" Target="slides/slide14.xml" /><ns0:Relationship Id="rId21" Type="http://schemas.openxmlformats.org/officeDocument/2006/relationships/slide" Target="slides/slide15.xml" /><ns0:Relationship Id="rId22" Type="http://schemas.openxmlformats.org/officeDocument/2006/relationships/slide" Target="slides/slide16.xml" /><ns0:Relationship Id="rId23" Type="http://schemas.openxmlformats.org/officeDocument/2006/relationships/slide" Target="slides/slide17.xml" /><ns0:Relationship Id="rId24" Type="http://schemas.openxmlformats.org/officeDocument/2006/relationships/slide" Target="slides/slide18.xml" /><ns0:Relationship Id="rIdFont25" Type="http://schemas.openxmlformats.org/officeDocument/2006/relationships/font" Target="fonts/62390a3e-9e9d-4dc1-86e9-e430c2f25594.fntdata" /><ns0:Relationship Id="rIdFont26" Type="http://schemas.openxmlformats.org/officeDocument/2006/relationships/font" Target="fonts/ff563957-2462-41e7-8d7f-cc1611100014.fntdata" /><ns0:Relationship Id="rIdFont27" Type="http://schemas.openxmlformats.org/officeDocument/2006/relationships/font" Target="fonts/1633882b-d69d-48f8-a6f4-8047be329b31.fntdata" /><ns0:Relationship Id="rIdFont28" Type="http://schemas.openxmlformats.org/officeDocument/2006/relationships/font" Target="fonts/e5592bed-bfc2-4014-b7ba-3de14619a2e0.fntdata" /></ns0: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image" Target="../media/image8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image" Target="../media/image10.png"/><Relationship Id="rId4" Type="http://schemas.openxmlformats.org/officeDocument/2006/relationships/image" Target="../media/image1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Relationship Id="rId3" Type="http://schemas.openxmlformats.org/officeDocument/2006/relationships/image" Target="../media/image18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85800" y="4502348"/>
            <a:ext cx="609600" cy="38100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1793676"/>
            <a:ext cx="11506200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125" i="0" u="none">
                <a:solidFill>
                  <a:srgbClr val="38BDF8"/>
                </a:solidFill>
                <a:latin typeface="JetBrains Mono"/>
              </a:rPr>
              <a:t>DESIGN THINKING FOR INNOVATION &amp; ENTREPRENEURSHIP (DTIE) | SECTION: PROJECT BATCH-A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2136576"/>
            <a:ext cx="9101137" cy="12799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5040"/>
              </a:lnSpc>
            </a:pPr>
            <a:r>
              <a:rPr b="1" sz="4500" i="0" u="none">
                <a:solidFill>
                  <a:srgbClr val="F8FAFC"/>
                </a:solidFill>
                <a:latin typeface="Space Grotesk"/>
              </a:rPr>
              <a:t>EduPulse: Student Curriculum &amp; Attendance System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3645098"/>
            <a:ext cx="7143750" cy="552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650" i="0" u="none">
                <a:solidFill>
                  <a:srgbClr val="94A3B8"/>
                </a:solidFill>
                <a:latin typeface="DM Sans"/>
              </a:rPr>
              <a:t>Unified academic tracking platform for real-time attendance analytics and structured curriculum progression.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4845248"/>
            <a:ext cx="11506200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F8FAFC"/>
                </a:solidFill>
                <a:latin typeface="JetBrains Mono"/>
              </a:rPr>
              <a:t>Live Web App: https://edupulse-one-fawn.vercel.app/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2266950"/>
            <a:ext cx="3505200" cy="1504950"/>
          </a:xfrm>
          <a:prstGeom prst="roundRect">
            <a:avLst>
              <a:gd name="adj" fmla="val 7594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343400" y="2266950"/>
            <a:ext cx="3505200" cy="1504950"/>
          </a:xfrm>
          <a:prstGeom prst="roundRect">
            <a:avLst>
              <a:gd name="adj" fmla="val 7594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077200" y="2266950"/>
            <a:ext cx="3505200" cy="1504950"/>
          </a:xfrm>
          <a:prstGeom prst="roundRect">
            <a:avLst>
              <a:gd name="adj" fmla="val 7594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09600" y="4000500"/>
            <a:ext cx="3505200" cy="1504950"/>
          </a:xfrm>
          <a:prstGeom prst="roundRect">
            <a:avLst>
              <a:gd name="adj" fmla="val 7594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343400" y="4000500"/>
            <a:ext cx="3505200" cy="1504950"/>
          </a:xfrm>
          <a:prstGeom prst="roundRect">
            <a:avLst>
              <a:gd name="adj" fmla="val 7594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077200" y="4000500"/>
            <a:ext cx="3505200" cy="1504950"/>
          </a:xfrm>
          <a:prstGeom prst="roundRect">
            <a:avLst>
              <a:gd name="adj" fmla="val 7594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2533650"/>
            <a:ext cx="333375" cy="26670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0" y="2533650"/>
            <a:ext cx="238125" cy="26670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05800" y="2533650"/>
            <a:ext cx="266700" cy="266700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8200" y="4267200"/>
            <a:ext cx="266700" cy="266700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72000" y="4267200"/>
            <a:ext cx="333375" cy="266700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305800" y="4267200"/>
            <a:ext cx="266700" cy="26670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0284C7"/>
                </a:solidFill>
                <a:latin typeface="JetBrains Mono"/>
              </a:rPr>
              <a:t>DTIE | DEPARTMENT OF MULTI DISCIPLINARY INNOVATION &amp; ENTREPRENEURSHIP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9600" y="704850"/>
            <a:ext cx="11582400" cy="4381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700" i="0" u="none">
                <a:solidFill>
                  <a:srgbClr val="0F172A"/>
                </a:solidFill>
                <a:latin typeface="Space Grotesk"/>
              </a:rPr>
              <a:t>Team Members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8200" y="2933700"/>
            <a:ext cx="1250156" cy="2952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800" i="0" u="none">
                <a:solidFill>
                  <a:srgbClr val="0F172A"/>
                </a:solidFill>
                <a:latin typeface="Space Grotesk"/>
              </a:rPr>
              <a:t>Mokshit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8200" y="3286125"/>
            <a:ext cx="1833562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475569"/>
                </a:solidFill>
                <a:latin typeface="JetBrains Mono"/>
              </a:rPr>
              <a:t>ID: 2620030124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0" y="2933700"/>
            <a:ext cx="920115" cy="2952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800" i="0" u="none">
                <a:solidFill>
                  <a:srgbClr val="0F172A"/>
                </a:solidFill>
                <a:latin typeface="Space Grotesk"/>
              </a:rPr>
              <a:t>Vikas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0" y="3286125"/>
            <a:ext cx="1833562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475569"/>
                </a:solidFill>
                <a:latin typeface="JetBrains Mono"/>
              </a:rPr>
              <a:t>ID: 2620030391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05800" y="2933700"/>
            <a:ext cx="950118" cy="2952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800" i="0" u="none">
                <a:solidFill>
                  <a:srgbClr val="0F172A"/>
                </a:solidFill>
                <a:latin typeface="Space Grotesk"/>
              </a:rPr>
              <a:t>Vinay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05800" y="3286125"/>
            <a:ext cx="1833562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475569"/>
                </a:solidFill>
                <a:latin typeface="JetBrains Mono"/>
              </a:rPr>
              <a:t>ID: 2620030387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8200" y="4667250"/>
            <a:ext cx="1280160" cy="2952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800" i="0" u="none">
                <a:solidFill>
                  <a:srgbClr val="0F172A"/>
                </a:solidFill>
                <a:latin typeface="Space Grotesk"/>
              </a:rPr>
              <a:t>Jayanth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8200" y="5019675"/>
            <a:ext cx="1833562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475569"/>
                </a:solidFill>
                <a:latin typeface="JetBrains Mono"/>
              </a:rPr>
              <a:t>ID: 2620090100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0" y="4667250"/>
            <a:ext cx="1562695" cy="2952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800" i="0" u="none">
                <a:solidFill>
                  <a:srgbClr val="0F172A"/>
                </a:solidFill>
                <a:latin typeface="Space Grotesk"/>
              </a:rPr>
              <a:t>Navaneeth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0" y="5019675"/>
            <a:ext cx="1833562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475569"/>
                </a:solidFill>
                <a:latin typeface="JetBrains Mono"/>
              </a:rPr>
              <a:t>ID: 2620030694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05800" y="4667250"/>
            <a:ext cx="1130141" cy="2952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800" i="0" u="none">
                <a:solidFill>
                  <a:srgbClr val="0F172A"/>
                </a:solidFill>
                <a:latin typeface="Space Grotesk"/>
              </a:rPr>
              <a:t>Charan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05800" y="5019675"/>
            <a:ext cx="1833562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475569"/>
                </a:solidFill>
                <a:latin typeface="JetBrains Mono"/>
              </a:rPr>
              <a:t>ID: 2620080093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2705100"/>
            <a:ext cx="5257800" cy="2362200"/>
          </a:xfrm>
          <a:prstGeom prst="roundRect">
            <a:avLst>
              <a:gd name="adj" fmla="val 6451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324600" y="2705100"/>
            <a:ext cx="5257800" cy="2362200"/>
          </a:xfrm>
          <a:prstGeom prst="roundRect">
            <a:avLst>
              <a:gd name="adj" fmla="val 6451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8700" y="3124200"/>
            <a:ext cx="390525" cy="3429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43700" y="3124200"/>
            <a:ext cx="342900" cy="3429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0284C7"/>
                </a:solidFill>
                <a:latin typeface="JetBrains Mono"/>
              </a:rPr>
              <a:t>DTIE | STRATEGIC DIRECTION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600" y="704850"/>
            <a:ext cx="11582400" cy="4381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700" i="0" u="none">
                <a:solidFill>
                  <a:srgbClr val="0F172A"/>
                </a:solidFill>
                <a:latin typeface="Space Grotesk"/>
              </a:rPr>
              <a:t>Vision and Mission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28700" y="3657600"/>
            <a:ext cx="5800725" cy="3429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100" i="0" u="none">
                <a:solidFill>
                  <a:srgbClr val="0F172A"/>
                </a:solidFill>
                <a:latin typeface="Space Grotesk"/>
              </a:rPr>
              <a:t>Our Vision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28700" y="4152900"/>
            <a:ext cx="4514850" cy="495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500" i="0" u="none">
                <a:solidFill>
                  <a:srgbClr val="334155"/>
                </a:solidFill>
                <a:latin typeface="DM Sans"/>
              </a:rPr>
              <a:t>Create paperless campuses powered by transparent real-time academic intelligence.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743700" y="3657600"/>
            <a:ext cx="5448300" cy="3429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100" i="0" u="none">
                <a:solidFill>
                  <a:srgbClr val="0F172A"/>
                </a:solidFill>
                <a:latin typeface="Space Grotesk"/>
              </a:rPr>
              <a:t>Our Mission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743700" y="4152900"/>
            <a:ext cx="4514850" cy="495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500" i="0" u="none">
                <a:solidFill>
                  <a:srgbClr val="334155"/>
                </a:solidFill>
                <a:latin typeface="DM Sans"/>
              </a:rPr>
              <a:t>Unify daily attendance logs alongside syllabus milestones inside one accessible web portal.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2895600"/>
            <a:ext cx="3479750" cy="1981200"/>
          </a:xfrm>
          <a:prstGeom prst="roundRect">
            <a:avLst>
              <a:gd name="adj" fmla="val 5769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356050" y="2895600"/>
            <a:ext cx="3479750" cy="1981200"/>
          </a:xfrm>
          <a:prstGeom prst="roundRect">
            <a:avLst>
              <a:gd name="adj" fmla="val 5769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102500" y="2895600"/>
            <a:ext cx="3479750" cy="1981200"/>
          </a:xfrm>
          <a:prstGeom prst="roundRect">
            <a:avLst>
              <a:gd name="adj" fmla="val 5769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6300" y="3238500"/>
            <a:ext cx="342900" cy="3048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22750" y="3238500"/>
            <a:ext cx="381000" cy="3048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69200" y="3238500"/>
            <a:ext cx="304800" cy="3048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0284C7"/>
                </a:solidFill>
                <a:latin typeface="JetBrains Mono"/>
              </a:rPr>
              <a:t>DTIE | CORE CHALLENGE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600" y="704850"/>
            <a:ext cx="11582400" cy="4381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700" i="0" u="none">
                <a:solidFill>
                  <a:srgbClr val="0F172A"/>
                </a:solidFill>
                <a:latin typeface="Space Grotesk"/>
              </a:rPr>
              <a:t>Problem Statement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76300" y="3695700"/>
            <a:ext cx="3867084" cy="2667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650" i="0" u="none">
                <a:solidFill>
                  <a:srgbClr val="0F172A"/>
                </a:solidFill>
                <a:latin typeface="Space Grotesk"/>
              </a:rPr>
              <a:t>Manual Roll Calls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76300" y="4076700"/>
            <a:ext cx="3041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475569"/>
                </a:solidFill>
                <a:latin typeface="DM Sans"/>
              </a:rPr>
              <a:t>Paper registers waste 10 minutes per lecture.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22750" y="3695700"/>
            <a:ext cx="3867084" cy="2667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650" i="0" u="none">
                <a:solidFill>
                  <a:srgbClr val="0F172A"/>
                </a:solidFill>
                <a:latin typeface="Space Grotesk"/>
              </a:rPr>
              <a:t>Disconnected Syllabus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22750" y="4076700"/>
            <a:ext cx="3041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475569"/>
                </a:solidFill>
                <a:latin typeface="DM Sans"/>
              </a:rPr>
              <a:t>Curriculum progress lives in isolated spreadsheets.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69200" y="3695700"/>
            <a:ext cx="3822799" cy="2667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650" i="0" u="none">
                <a:solidFill>
                  <a:srgbClr val="0F172A"/>
                </a:solidFill>
                <a:latin typeface="Space Grotesk"/>
              </a:rPr>
              <a:t>Late Shortage Alerts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69200" y="4076700"/>
            <a:ext cx="3041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475569"/>
                </a:solidFill>
                <a:latin typeface="DM Sans"/>
              </a:rPr>
              <a:t>Students discover attendance deficits right before exams.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0284C7"/>
                </a:solidFill>
                <a:latin typeface="JetBrains Mono"/>
              </a:rPr>
              <a:t>DTIE | INDUSTRY VALIDATION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600" y="704850"/>
            <a:ext cx="11582400" cy="4381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700" i="0" u="none">
                <a:solidFill>
                  <a:srgbClr val="0F172A"/>
                </a:solidFill>
                <a:latin typeface="Space Grotesk"/>
              </a:rPr>
              <a:t>Research &amp; Market Study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1695450"/>
            <a:ext cx="5257800" cy="43815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0284C7"/>
                </a:solidFill>
                <a:latin typeface="JetBrains Mono"/>
              </a:rPr>
              <a:t>DTIE | STAKEHOLDER ECOSYSTEM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600" y="704850"/>
            <a:ext cx="11582400" cy="4381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700" i="0" u="none">
                <a:solidFill>
                  <a:srgbClr val="0F172A"/>
                </a:solidFill>
                <a:latin typeface="Space Grotesk"/>
              </a:rPr>
              <a:t>Target User &amp; Customer Segments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24600" y="2600325"/>
            <a:ext cx="5867400" cy="2667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650" i="0" u="none">
                <a:solidFill>
                  <a:srgbClr val="0284C7"/>
                </a:solidFill>
                <a:latin typeface="Space Grotesk"/>
              </a:rPr>
              <a:t>University &amp; College Students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324600" y="2924175"/>
            <a:ext cx="535305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475569"/>
                </a:solidFill>
                <a:latin typeface="DM Sans"/>
              </a:rPr>
              <a:t>Track live attendance percentages alongside daily topic schedules.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24600" y="3609975"/>
            <a:ext cx="5867400" cy="2667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650" i="0" u="none">
                <a:solidFill>
                  <a:srgbClr val="0284C7"/>
                </a:solidFill>
                <a:latin typeface="Space Grotesk"/>
              </a:rPr>
              <a:t>Faculty &amp; Course Instructors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4600" y="3933825"/>
            <a:ext cx="5867400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475569"/>
                </a:solidFill>
                <a:latin typeface="DM Sans"/>
              </a:rPr>
              <a:t>Log class attendance rapidly inside unified course modules.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24600" y="4391025"/>
            <a:ext cx="5867400" cy="2667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650" i="0" u="none">
                <a:solidFill>
                  <a:srgbClr val="0284C7"/>
                </a:solidFill>
                <a:latin typeface="Space Grotesk"/>
              </a:rPr>
              <a:t>Department Administrators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4600" y="4714875"/>
            <a:ext cx="535305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475569"/>
                </a:solidFill>
                <a:latin typeface="DM Sans"/>
              </a:rPr>
              <a:t>Monitor cohort compliance metrics across academic departments.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1776412"/>
            <a:ext cx="10972800" cy="4219575"/>
          </a:xfrm>
          <a:prstGeom prst="roundRect">
            <a:avLst>
              <a:gd name="adj" fmla="val 0"/>
            </a:avLst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609600" y="1776412"/>
          <a:ext cx="10972798" cy="4219575"/>
        </p:xfrm>
        <a:graphic>
          <a:graphicData uri="http://schemas.openxmlformats.org/drawingml/2006/table">
            <a:tbl>
              <a:tblPr firstRow="0" bandRow="0">
                <a:lnL>
                  <a:noFill/>
                </a:lnL>
                <a:lnR>
                  <a:noFill/>
                </a:lnR>
                <a:lnT>
                  <a:noFill/>
                </a:lnT>
                <a:lnB>
                  <a:noFill/>
                </a:lnB>
                <a:lnV>
                  <a:noFill/>
                </a:lnV>
                <a:lnH>
                  <a:noFill/>
                </a:lnH>
              </a:tblPr>
              <a:tblGrid>
                <a:gridCol w="2202507"/>
                <a:gridCol w="1994743"/>
                <a:gridCol w="2022574"/>
                <a:gridCol w="2134344"/>
                <a:gridCol w="2618630"/>
              </a:tblGrid>
              <a:tr h="843915">
                <a:tc>
                  <a:txBody>
                    <a:bodyPr/>
                    <a:lstStyle/>
                    <a:p>
                      <a:pPr algn="l"/>
                      <a:r>
                        <a:rPr b="1" sz="1350" i="0" u="none">
                          <a:solidFill>
                            <a:srgbClr val="FFFFFF"/>
                          </a:solidFill>
                          <a:latin typeface="DM Sans"/>
                        </a:rPr>
                        <a:t>Feature / Benchmark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350" i="0" u="none">
                          <a:solidFill>
                            <a:srgbClr val="FFFFFF"/>
                          </a:solidFill>
                          <a:latin typeface="DM Sans"/>
                        </a:rPr>
                        <a:t>Manual Registers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350" i="0" u="none">
                          <a:solidFill>
                            <a:srgbClr val="FFFFFF"/>
                          </a:solidFill>
                          <a:latin typeface="DM Sans"/>
                        </a:rPr>
                        <a:t>Legacy Campus ERP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350" i="0" u="none">
                          <a:solidFill>
                            <a:srgbClr val="FFFFFF"/>
                          </a:solidFill>
                          <a:latin typeface="DM Sans"/>
                        </a:rPr>
                        <a:t>Generic LMS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350" i="0" u="none">
                          <a:solidFill>
                            <a:srgbClr val="38BDF8"/>
                          </a:solidFill>
                          <a:latin typeface="DM Sans"/>
                        </a:rPr>
                        <a:t>EduPulse Web App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</a:tr>
              <a:tr h="843915">
                <a:tc>
                  <a:txBody>
                    <a:bodyPr/>
                    <a:lstStyle/>
                    <a:p>
                      <a:pPr algn="l"/>
                      <a:r>
                        <a:rPr b="1" sz="1350" i="0" u="none">
                          <a:solidFill>
                            <a:srgbClr val="0F172A"/>
                          </a:solidFill>
                          <a:latin typeface="DM Sans"/>
                        </a:rPr>
                        <a:t>Real-Time Attendance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350" i="0" u="none">
                          <a:solidFill>
                            <a:srgbClr val="64748B"/>
                          </a:solidFill>
                          <a:latin typeface="DM Sans"/>
                        </a:rPr>
                        <a:t>Delayed manual tally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350" i="0" u="none">
                          <a:solidFill>
                            <a:srgbClr val="64748B"/>
                          </a:solidFill>
                          <a:latin typeface="DM Sans"/>
                        </a:rPr>
                        <a:t>Slow batch sync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350" i="0" u="none">
                          <a:solidFill>
                            <a:srgbClr val="64748B"/>
                          </a:solidFill>
                          <a:latin typeface="DM Sans"/>
                        </a:rPr>
                        <a:t>Plugin dependent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350" i="0" u="none">
                          <a:solidFill>
                            <a:srgbClr val="0284C7"/>
                          </a:solidFill>
                          <a:latin typeface="DM Sans"/>
                        </a:rPr>
                        <a:t>Instant cloud sync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843915">
                <a:tc>
                  <a:txBody>
                    <a:bodyPr/>
                    <a:lstStyle/>
                    <a:p>
                      <a:pPr algn="l"/>
                      <a:r>
                        <a:rPr b="1" sz="1350" i="0" u="none">
                          <a:solidFill>
                            <a:srgbClr val="0F172A"/>
                          </a:solidFill>
                          <a:latin typeface="DM Sans"/>
                        </a:rPr>
                        <a:t>Curriculum Mapping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350" i="0" u="none">
                          <a:solidFill>
                            <a:srgbClr val="64748B"/>
                          </a:solidFill>
                          <a:latin typeface="DM Sans"/>
                        </a:rPr>
                        <a:t>Paper syllabus files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350" i="0" u="none">
                          <a:solidFill>
                            <a:srgbClr val="64748B"/>
                          </a:solidFill>
                          <a:latin typeface="DM Sans"/>
                        </a:rPr>
                        <a:t>Static PDF uploads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350" i="0" u="none">
                          <a:solidFill>
                            <a:srgbClr val="64748B"/>
                          </a:solidFill>
                          <a:latin typeface="DM Sans"/>
                        </a:rPr>
                        <a:t>Course files only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350" i="0" u="none">
                          <a:solidFill>
                            <a:srgbClr val="0284C7"/>
                          </a:solidFill>
                          <a:latin typeface="DM Sans"/>
                        </a:rPr>
                        <a:t>Interactive module tracker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843915">
                <a:tc>
                  <a:txBody>
                    <a:bodyPr/>
                    <a:lstStyle/>
                    <a:p>
                      <a:pPr algn="l"/>
                      <a:r>
                        <a:rPr b="1" sz="1350" i="0" u="none">
                          <a:solidFill>
                            <a:srgbClr val="0F172A"/>
                          </a:solidFill>
                          <a:latin typeface="DM Sans"/>
                        </a:rPr>
                        <a:t>Deployment Speed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350" i="0" u="none">
                          <a:solidFill>
                            <a:srgbClr val="64748B"/>
                          </a:solidFill>
                          <a:latin typeface="DM Sans"/>
                        </a:rPr>
                        <a:t>Immediate setup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350" i="0" u="none">
                          <a:solidFill>
                            <a:srgbClr val="64748B"/>
                          </a:solidFill>
                          <a:latin typeface="DM Sans"/>
                        </a:rPr>
                        <a:t>6-month onboarding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350" i="0" u="none">
                          <a:solidFill>
                            <a:srgbClr val="64748B"/>
                          </a:solidFill>
                          <a:latin typeface="DM Sans"/>
                        </a:rPr>
                        <a:t>Weeks of configuration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350" i="0" u="none">
                          <a:solidFill>
                            <a:srgbClr val="0284C7"/>
                          </a:solidFill>
                          <a:latin typeface="DM Sans"/>
                        </a:rPr>
                        <a:t>Zero-install Vercel web app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843915">
                <a:tc>
                  <a:txBody>
                    <a:bodyPr/>
                    <a:lstStyle/>
                    <a:p>
                      <a:pPr algn="l"/>
                      <a:r>
                        <a:rPr b="1" sz="1350" i="0" u="none">
                          <a:solidFill>
                            <a:srgbClr val="0F172A"/>
                          </a:solidFill>
                          <a:latin typeface="DM Sans"/>
                        </a:rPr>
                        <a:t>User Experience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350" i="0" u="none">
                          <a:solidFill>
                            <a:srgbClr val="64748B"/>
                          </a:solidFill>
                          <a:latin typeface="DM Sans"/>
                        </a:rPr>
                        <a:t>Zero student visibility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350" i="0" u="none">
                          <a:solidFill>
                            <a:srgbClr val="64748B"/>
                          </a:solidFill>
                          <a:latin typeface="DM Sans"/>
                        </a:rPr>
                        <a:t>Cluttered interface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350" i="0" u="none">
                          <a:solidFill>
                            <a:srgbClr val="64748B"/>
                          </a:solidFill>
                          <a:latin typeface="DM Sans"/>
                        </a:rPr>
                        <a:t>Fragmented navigation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350" i="0" u="none">
                          <a:solidFill>
                            <a:srgbClr val="0284C7"/>
                          </a:solidFill>
                          <a:latin typeface="DM Sans"/>
                        </a:rPr>
                        <a:t>Clean role-based dashboard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0284C7"/>
                </a:solidFill>
                <a:latin typeface="JetBrains Mono"/>
              </a:rPr>
              <a:t>DTIE | COMPETITIVE LANDSCAPE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704850"/>
            <a:ext cx="11582400" cy="4381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700" i="0" u="none">
                <a:solidFill>
                  <a:srgbClr val="0F172A"/>
                </a:solidFill>
                <a:latin typeface="Space Grotesk"/>
              </a:rPr>
              <a:t>Competitors &amp; Benchmarks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086475" y="2362200"/>
            <a:ext cx="19050" cy="3048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0284C7"/>
                </a:solidFill>
                <a:latin typeface="JetBrains Mono"/>
              </a:rPr>
              <a:t>DTIE | VULNERABILITIES &amp; OPPORTUNITY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600" y="704850"/>
            <a:ext cx="11582400" cy="4381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700" i="0" u="none">
                <a:solidFill>
                  <a:srgbClr val="0F172A"/>
                </a:solidFill>
                <a:latin typeface="Space Grotesk"/>
              </a:rPr>
              <a:t>Market Gaps &amp; Risk Mitigation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2881312"/>
            <a:ext cx="6588323" cy="3238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950" i="0" u="none">
                <a:solidFill>
                  <a:srgbClr val="0F172A"/>
                </a:solidFill>
                <a:latin typeface="Space Grotesk"/>
              </a:rPr>
              <a:t>Existing Market Gaps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62725" y="3000375"/>
            <a:ext cx="5629275" cy="3238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950" i="0" u="none">
                <a:solidFill>
                  <a:srgbClr val="0284C7"/>
                </a:solidFill>
                <a:latin typeface="Space Grotesk"/>
              </a:rPr>
              <a:t>Operational Risks &amp; Defenses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600" y="3395662"/>
            <a:ext cx="6274593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425" i="0" u="none">
                <a:solidFill>
                  <a:srgbClr val="334155"/>
                </a:solidFill>
                <a:latin typeface="DM Sans"/>
              </a:rPr>
              <a:t>Siloed Portals:</a:t>
            </a:r>
            <a:r>
              <a:rPr b="0" sz="1425" i="0" u="none">
                <a:solidFill>
                  <a:srgbClr val="334155"/>
                </a:solidFill>
                <a:latin typeface="DM Sans"/>
              </a:rPr>
              <a:t> Attendance tools ignore syllabus pacing.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600" y="3786187"/>
            <a:ext cx="5114925" cy="476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425" i="0" u="none">
                <a:solidFill>
                  <a:srgbClr val="334155"/>
                </a:solidFill>
                <a:latin typeface="DM Sans"/>
              </a:rPr>
              <a:t>High ERP Costs:</a:t>
            </a:r>
            <a:r>
              <a:rPr b="0" sz="1425" i="0" u="none">
                <a:solidFill>
                  <a:srgbClr val="334155"/>
                </a:solidFill>
                <a:latin typeface="DM Sans"/>
              </a:rPr>
              <a:t> Small colleges cannot afford heavy licenses.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600" y="4414837"/>
            <a:ext cx="5114925" cy="476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425" i="0" u="none">
                <a:solidFill>
                  <a:srgbClr val="334155"/>
                </a:solidFill>
                <a:latin typeface="DM Sans"/>
              </a:rPr>
              <a:t>Opaque Metrics:</a:t>
            </a:r>
            <a:r>
              <a:rPr b="0" sz="1425" i="0" u="none">
                <a:solidFill>
                  <a:srgbClr val="334155"/>
                </a:solidFill>
                <a:latin typeface="DM Sans"/>
              </a:rPr>
              <a:t> Students lack predictive shortage warnings.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62725" y="3514725"/>
            <a:ext cx="5114925" cy="476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425" i="0" u="none">
                <a:solidFill>
                  <a:srgbClr val="334155"/>
                </a:solidFill>
                <a:latin typeface="DM Sans"/>
              </a:rPr>
              <a:t>Proxy Attendance:</a:t>
            </a:r>
            <a:r>
              <a:rPr b="0" sz="1425" i="0" u="none">
                <a:solidFill>
                  <a:srgbClr val="334155"/>
                </a:solidFill>
                <a:latin typeface="DM Sans"/>
              </a:rPr>
              <a:t> Solved via time-bound session verification.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62725" y="4143375"/>
            <a:ext cx="5629275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425" i="0" u="none">
                <a:solidFill>
                  <a:srgbClr val="334155"/>
                </a:solidFill>
                <a:latin typeface="DM Sans"/>
              </a:rPr>
              <a:t>Faculty Resistance:</a:t>
            </a:r>
            <a:r>
              <a:rPr b="0" sz="1425" i="0" u="none">
                <a:solidFill>
                  <a:srgbClr val="334155"/>
                </a:solidFill>
                <a:latin typeface="DM Sans"/>
              </a:rPr>
              <a:t> Solved via single-click roster marking.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62725" y="4533900"/>
            <a:ext cx="5629275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425" i="0" u="none">
                <a:solidFill>
                  <a:srgbClr val="334155"/>
                </a:solidFill>
                <a:latin typeface="DM Sans"/>
              </a:rPr>
              <a:t>Data Privacy:</a:t>
            </a:r>
            <a:r>
              <a:rPr b="0" sz="1425" i="0" u="none">
                <a:solidFill>
                  <a:srgbClr val="334155"/>
                </a:solidFill>
                <a:latin typeface="DM Sans"/>
              </a:rPr>
              <a:t> Solved via role-based access authentication.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76219" y="1885950"/>
            <a:ext cx="4206180" cy="40005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0284C7"/>
                </a:solidFill>
                <a:latin typeface="JetBrains Mono"/>
              </a:rPr>
              <a:t>DTIE | LIVE PRODUCT PROTOTYPE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600" y="704850"/>
            <a:ext cx="11582400" cy="4381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700" i="0" u="none">
                <a:solidFill>
                  <a:srgbClr val="0F172A"/>
                </a:solidFill>
                <a:latin typeface="Space Grotesk"/>
              </a:rPr>
              <a:t>Product Solution: EduPulse Web App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2805112"/>
            <a:ext cx="7886774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0F172A"/>
                </a:solidFill>
                <a:latin typeface="JetBrains Mono"/>
              </a:rPr>
              <a:t>https://edupulse-one-fawn.vercel.app/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600" y="3214687"/>
            <a:ext cx="7886774" cy="2476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1E293B"/>
                </a:solidFill>
                <a:latin typeface="DM Sans"/>
              </a:rPr>
              <a:t>Smart Attendance Ledger:</a:t>
            </a:r>
            <a:r>
              <a:rPr b="0" sz="1500" i="0" u="none">
                <a:solidFill>
                  <a:srgbClr val="1E293B"/>
                </a:solidFill>
                <a:latin typeface="DM Sans"/>
              </a:rPr>
              <a:t> Instant subject-wise presence logging.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600" y="3633787"/>
            <a:ext cx="6404669" cy="495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1E293B"/>
                </a:solidFill>
                <a:latin typeface="DM Sans"/>
              </a:rPr>
              <a:t>Curriculum Milestone Tracker:</a:t>
            </a:r>
            <a:r>
              <a:rPr b="0" sz="1500" i="0" u="none">
                <a:solidFill>
                  <a:srgbClr val="1E293B"/>
                </a:solidFill>
                <a:latin typeface="DM Sans"/>
              </a:rPr>
              <a:t> Unit-by-unit syllabus completion progress.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600" y="4300537"/>
            <a:ext cx="7886774" cy="2476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1E293B"/>
                </a:solidFill>
                <a:latin typeface="DM Sans"/>
              </a:rPr>
              <a:t>75% Eligibility Radar:</a:t>
            </a:r>
            <a:r>
              <a:rPr b="0" sz="1500" i="0" u="none">
                <a:solidFill>
                  <a:srgbClr val="1E293B"/>
                </a:solidFill>
                <a:latin typeface="DM Sans"/>
              </a:rPr>
              <a:t> Automated visual alerts for shortage risk.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600" y="4719637"/>
            <a:ext cx="7886774" cy="2476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1E293B"/>
                </a:solidFill>
                <a:latin typeface="DM Sans"/>
              </a:rPr>
              <a:t>Cloud Deployment:</a:t>
            </a:r>
            <a:r>
              <a:rPr b="0" sz="1500" i="0" u="none">
                <a:solidFill>
                  <a:srgbClr val="1E293B"/>
                </a:solidFill>
                <a:latin typeface="DM Sans"/>
              </a:rPr>
              <a:t> Responsive Vercel web app across devices.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3495675"/>
            <a:ext cx="2571750" cy="1314450"/>
          </a:xfrm>
          <a:prstGeom prst="roundRect">
            <a:avLst>
              <a:gd name="adj" fmla="val 8695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3409950" y="3495675"/>
            <a:ext cx="2571750" cy="1314450"/>
          </a:xfrm>
          <a:prstGeom prst="roundRect">
            <a:avLst>
              <a:gd name="adj" fmla="val 8695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210300" y="3495675"/>
            <a:ext cx="2571750" cy="1314450"/>
          </a:xfrm>
          <a:prstGeom prst="roundRect">
            <a:avLst>
              <a:gd name="adj" fmla="val 8695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010650" y="3381375"/>
            <a:ext cx="2571750" cy="1543050"/>
          </a:xfrm>
          <a:prstGeom prst="roundRect">
            <a:avLst>
              <a:gd name="adj" fmla="val 7407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2847975"/>
            <a:ext cx="10972800" cy="2286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0284C7"/>
                </a:solidFill>
                <a:latin typeface="JetBrains Mono"/>
              </a:rPr>
              <a:t>DTIE | SYSTEM WORKFLOW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600" y="704850"/>
            <a:ext cx="11582400" cy="4381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700" i="0" u="none">
                <a:solidFill>
                  <a:srgbClr val="0F172A"/>
                </a:solidFill>
                <a:latin typeface="Space Grotesk"/>
              </a:rPr>
              <a:t>System Architecture &amp; User Storyboard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0100" y="3762375"/>
            <a:ext cx="2875359" cy="2476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Space Grotesk"/>
              </a:rPr>
              <a:t>1. Role Login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0100" y="4086225"/>
            <a:ext cx="2286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475569"/>
                </a:solidFill>
                <a:latin typeface="DM Sans"/>
              </a:rPr>
              <a:t>Secure portal access for students or faculty.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00450" y="3762375"/>
            <a:ext cx="2875359" cy="2476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Space Grotesk"/>
              </a:rPr>
              <a:t>2. Lecture Sync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00450" y="4086225"/>
            <a:ext cx="2286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475569"/>
                </a:solidFill>
                <a:latin typeface="DM Sans"/>
              </a:rPr>
              <a:t>Faculty marks attendance alongside topic covered.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3762375"/>
            <a:ext cx="2875359" cy="2476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Space Grotesk"/>
              </a:rPr>
              <a:t>3. Cloud Engine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4086225"/>
            <a:ext cx="2286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475569"/>
                </a:solidFill>
                <a:latin typeface="DM Sans"/>
              </a:rPr>
              <a:t>Vercel frontend updates real-time state records.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201150" y="3648075"/>
            <a:ext cx="2875359" cy="2476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Space Grotesk"/>
              </a:rPr>
              <a:t>4. Live Analytics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201150" y="3971925"/>
            <a:ext cx="228600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475569"/>
                </a:solidFill>
                <a:latin typeface="DM Sans"/>
              </a:rPr>
              <a:t>Student views updated attendance and syllabus bar.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2676525"/>
            <a:ext cx="2600325" cy="1000125"/>
          </a:xfrm>
          <a:prstGeom prst="roundRect">
            <a:avLst>
              <a:gd name="adj" fmla="val 11428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3400425" y="2562225"/>
            <a:ext cx="2600325" cy="1228725"/>
          </a:xfrm>
          <a:prstGeom prst="roundRect">
            <a:avLst>
              <a:gd name="adj" fmla="val 9302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191250" y="2562225"/>
            <a:ext cx="2600325" cy="1228725"/>
          </a:xfrm>
          <a:prstGeom prst="roundRect">
            <a:avLst>
              <a:gd name="adj" fmla="val 9302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982075" y="2562225"/>
            <a:ext cx="2600325" cy="1228725"/>
          </a:xfrm>
          <a:prstGeom prst="roundRect">
            <a:avLst>
              <a:gd name="adj" fmla="val 9302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09600" y="4095750"/>
            <a:ext cx="2600325" cy="1000125"/>
          </a:xfrm>
          <a:prstGeom prst="roundRect">
            <a:avLst>
              <a:gd name="adj" fmla="val 11428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3400425" y="3981450"/>
            <a:ext cx="2600325" cy="1228725"/>
          </a:xfrm>
          <a:prstGeom prst="roundRect">
            <a:avLst>
              <a:gd name="adj" fmla="val 9302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191250" y="3981450"/>
            <a:ext cx="2600325" cy="1228725"/>
          </a:xfrm>
          <a:prstGeom prst="roundRect">
            <a:avLst>
              <a:gd name="adj" fmla="val 9302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982075" y="3981450"/>
            <a:ext cx="2600325" cy="1228725"/>
          </a:xfrm>
          <a:prstGeom prst="roundRect">
            <a:avLst>
              <a:gd name="adj" fmla="val 9302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0284C7"/>
                </a:solidFill>
                <a:latin typeface="JetBrains Mono"/>
              </a:rPr>
              <a:t>DTIE | BUSINESS MODEL ARCHITECTURE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9600" y="704850"/>
            <a:ext cx="11582400" cy="4381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700" i="0" u="none">
                <a:solidFill>
                  <a:srgbClr val="0F172A"/>
                </a:solidFill>
                <a:latin typeface="Space Grotesk"/>
              </a:rPr>
              <a:t>Lean Canvas Model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8200" y="2905125"/>
            <a:ext cx="2812851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425" i="0" u="none">
                <a:solidFill>
                  <a:srgbClr val="0284C7"/>
                </a:solidFill>
                <a:latin typeface="DM Sans"/>
              </a:rPr>
              <a:t>Problem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8200" y="3219450"/>
            <a:ext cx="2678906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334155"/>
                </a:solidFill>
                <a:latin typeface="DM Sans"/>
              </a:rPr>
              <a:t>Manual attendance errors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29025" y="2790825"/>
            <a:ext cx="2812851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425" i="0" u="none">
                <a:solidFill>
                  <a:srgbClr val="0284C7"/>
                </a:solidFill>
                <a:latin typeface="DM Sans"/>
              </a:rPr>
              <a:t>Solution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29025" y="3105150"/>
            <a:ext cx="223837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334155"/>
                </a:solidFill>
                <a:latin typeface="DM Sans"/>
              </a:rPr>
              <a:t>Unified curriculum web portal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19850" y="2790825"/>
            <a:ext cx="2812851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425" i="0" u="none">
                <a:solidFill>
                  <a:srgbClr val="0F172A"/>
                </a:solidFill>
                <a:latin typeface="DM Sans"/>
              </a:rPr>
              <a:t>Unique Value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19850" y="3105150"/>
            <a:ext cx="223837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334155"/>
                </a:solidFill>
                <a:latin typeface="DM Sans"/>
              </a:rPr>
              <a:t>Zero-friction syllabus plus attendance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210675" y="2790825"/>
            <a:ext cx="2812851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425" i="0" u="none">
                <a:solidFill>
                  <a:srgbClr val="0284C7"/>
                </a:solidFill>
                <a:latin typeface="DM Sans"/>
              </a:rPr>
              <a:t>Unfair Advantage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210675" y="3105150"/>
            <a:ext cx="223837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334155"/>
                </a:solidFill>
                <a:latin typeface="DM Sans"/>
              </a:rPr>
              <a:t>Instant serverless cloud onboarding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8200" y="4324350"/>
            <a:ext cx="2812851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425" i="0" u="none">
                <a:solidFill>
                  <a:srgbClr val="0284C7"/>
                </a:solidFill>
                <a:latin typeface="DM Sans"/>
              </a:rPr>
              <a:t>Key Metrics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8200" y="4638675"/>
            <a:ext cx="2678906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334155"/>
                </a:solidFill>
                <a:latin typeface="DM Sans"/>
              </a:rPr>
              <a:t>Daily active campus logins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29025" y="4210050"/>
            <a:ext cx="2812851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425" i="0" u="none">
                <a:solidFill>
                  <a:srgbClr val="0284C7"/>
                </a:solidFill>
                <a:latin typeface="DM Sans"/>
              </a:rPr>
              <a:t>Channels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29025" y="4524375"/>
            <a:ext cx="223837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334155"/>
                </a:solidFill>
                <a:latin typeface="DM Sans"/>
              </a:rPr>
              <a:t>Direct college pilot programs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19850" y="4210050"/>
            <a:ext cx="2812851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425" i="0" u="none">
                <a:solidFill>
                  <a:srgbClr val="0284C7"/>
                </a:solidFill>
                <a:latin typeface="DM Sans"/>
              </a:rPr>
              <a:t>Cost Structure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19850" y="4524375"/>
            <a:ext cx="223837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334155"/>
                </a:solidFill>
                <a:latin typeface="DM Sans"/>
              </a:rPr>
              <a:t>Cloud hosting plus database tiers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210675" y="4210050"/>
            <a:ext cx="2812851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425" i="0" u="none">
                <a:solidFill>
                  <a:srgbClr val="0F172A"/>
                </a:solidFill>
                <a:latin typeface="DM Sans"/>
              </a:rPr>
              <a:t>Revenue Streams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210675" y="4524375"/>
            <a:ext cx="223837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334155"/>
                </a:solidFill>
                <a:latin typeface="DM Sans"/>
              </a:rPr>
              <a:t>Annual B2B SaaS per-student fee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4219575"/>
            <a:ext cx="10972800" cy="771525"/>
          </a:xfrm>
          <a:prstGeom prst="roundRect">
            <a:avLst>
              <a:gd name="adj" fmla="val 14814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0284C7"/>
                </a:solidFill>
                <a:latin typeface="JetBrains Mono"/>
              </a:rPr>
              <a:t>DTIE | FINANCIAL PROJECTIONS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600" y="704850"/>
            <a:ext cx="11582400" cy="4381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700" i="0" u="none">
                <a:solidFill>
                  <a:srgbClr val="0F172A"/>
                </a:solidFill>
                <a:latin typeface="Space Grotesk"/>
              </a:rPr>
              <a:t>Capital &amp; Financial Plan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486275"/>
            <a:ext cx="4536281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425" i="0" u="none">
                <a:solidFill>
                  <a:srgbClr val="0F172A"/>
                </a:solidFill>
                <a:latin typeface="DM Sans"/>
              </a:rPr>
              <a:t>Cloud &amp; DB Infrastructure:</a:t>
            </a:r>
            <a:r>
              <a:rPr b="0" sz="1425" i="0" u="none">
                <a:solidFill>
                  <a:srgbClr val="0F172A"/>
                </a:solidFill>
                <a:latin typeface="DM Sans"/>
              </a:rPr>
              <a:t> 40% Allocation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614862" y="4486275"/>
            <a:ext cx="4298156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425" i="0" u="none">
                <a:solidFill>
                  <a:srgbClr val="0F172A"/>
                </a:solidFill>
                <a:latin typeface="DM Sans"/>
              </a:rPr>
              <a:t>Product R&amp;D &amp; Security:</a:t>
            </a:r>
            <a:r>
              <a:rPr b="0" sz="1425" i="0" u="none">
                <a:solidFill>
                  <a:srgbClr val="0F172A"/>
                </a:solidFill>
                <a:latin typeface="DM Sans"/>
              </a:rPr>
              <a:t> 35% Allocation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124825" y="4486275"/>
            <a:ext cx="3940968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425" i="0" u="none">
                <a:solidFill>
                  <a:srgbClr val="0F172A"/>
                </a:solidFill>
                <a:latin typeface="DM Sans"/>
              </a:rPr>
              <a:t>Campus Onboarding:</a:t>
            </a:r>
            <a:r>
              <a:rPr b="0" sz="1425" i="0" u="none">
                <a:solidFill>
                  <a:srgbClr val="0F172A"/>
                </a:solidFill>
                <a:latin typeface="DM Sans"/>
              </a:rPr>
              <a:t> 25% Allocation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600" y="2781300"/>
            <a:ext cx="3369468" cy="6762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4200" i="0" u="none">
                <a:solidFill>
                  <a:srgbClr val="0284C7"/>
                </a:solidFill>
                <a:latin typeface="Space Grotesk"/>
              </a:rPr>
              <a:t>₹1.5 Lakhs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600" y="3533775"/>
            <a:ext cx="3369468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475569"/>
                </a:solidFill>
                <a:latin typeface="DM Sans"/>
              </a:rPr>
              <a:t>Initial Seed Requirement (Year 1)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38725" y="2781300"/>
            <a:ext cx="2976562" cy="6762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4200" i="0" u="none">
                <a:solidFill>
                  <a:srgbClr val="0F172A"/>
                </a:solidFill>
                <a:latin typeface="Space Grotesk"/>
              </a:rPr>
              <a:t>₹150 / yr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38725" y="3533775"/>
            <a:ext cx="2976562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475569"/>
                </a:solidFill>
                <a:latin typeface="DM Sans"/>
              </a:rPr>
              <a:t>SaaS Subscription Per Student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53525" y="2781300"/>
            <a:ext cx="3036093" cy="6762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4200" i="0" u="none">
                <a:solidFill>
                  <a:srgbClr val="0F172A"/>
                </a:solidFill>
                <a:latin typeface="Space Grotesk"/>
              </a:rPr>
              <a:t>8 Months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53525" y="3533775"/>
            <a:ext cx="3036093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475569"/>
                </a:solidFill>
                <a:latin typeface="DM Sans"/>
              </a:rPr>
              <a:t>Projected Break-Even Horizon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3038475"/>
            <a:ext cx="2571750" cy="1695450"/>
          </a:xfrm>
          <a:prstGeom prst="roundRect">
            <a:avLst>
              <a:gd name="adj" fmla="val 6741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3409950" y="3038475"/>
            <a:ext cx="2571750" cy="1695450"/>
          </a:xfrm>
          <a:prstGeom prst="roundRect">
            <a:avLst>
              <a:gd name="adj" fmla="val 6741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210300" y="3038475"/>
            <a:ext cx="2571750" cy="1695450"/>
          </a:xfrm>
          <a:prstGeom prst="roundRect">
            <a:avLst>
              <a:gd name="adj" fmla="val 6741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010650" y="3038475"/>
            <a:ext cx="2571750" cy="1695450"/>
          </a:xfrm>
          <a:prstGeom prst="roundRect">
            <a:avLst>
              <a:gd name="adj" fmla="val 6741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0284C7"/>
                </a:solidFill>
                <a:latin typeface="JetBrains Mono"/>
              </a:rPr>
              <a:t>DTIE | EXECUTION MILESTONES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600" y="704850"/>
            <a:ext cx="11582400" cy="4381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700" i="0" u="none">
                <a:solidFill>
                  <a:srgbClr val="0F172A"/>
                </a:solidFill>
                <a:latin typeface="Space Grotesk"/>
              </a:rPr>
              <a:t>Product Roadmap &amp; Timeline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38200" y="3343275"/>
            <a:ext cx="2643187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125" i="0" u="none">
                <a:solidFill>
                  <a:srgbClr val="0284C7"/>
                </a:solidFill>
                <a:latin typeface="JetBrains Mono"/>
              </a:rPr>
              <a:t>Q1 • COMPLETED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38200" y="3609975"/>
            <a:ext cx="2775346" cy="2667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650" i="0" u="none">
                <a:solidFill>
                  <a:srgbClr val="0F172A"/>
                </a:solidFill>
                <a:latin typeface="Space Grotesk"/>
              </a:rPr>
              <a:t>Web MVP Launch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8200" y="3971925"/>
            <a:ext cx="2209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475569"/>
                </a:solidFill>
                <a:latin typeface="DM Sans"/>
              </a:rPr>
              <a:t>Live prototype deployed on Vercel.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38550" y="3343275"/>
            <a:ext cx="2643187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125" i="0" u="none">
                <a:solidFill>
                  <a:srgbClr val="0284C7"/>
                </a:solidFill>
                <a:latin typeface="JetBrains Mono"/>
              </a:rPr>
              <a:t>Q2 • PILOT PHASE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38550" y="3609975"/>
            <a:ext cx="2775346" cy="2667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650" i="0" u="none">
                <a:solidFill>
                  <a:srgbClr val="0F172A"/>
                </a:solidFill>
                <a:latin typeface="Space Grotesk"/>
              </a:rPr>
              <a:t>Batch-A Testing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38550" y="3971925"/>
            <a:ext cx="2209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475569"/>
                </a:solidFill>
                <a:latin typeface="DM Sans"/>
              </a:rPr>
              <a:t>Cohort onboarding with live feedback.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38900" y="3343275"/>
            <a:ext cx="2643187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125" i="0" u="none">
                <a:solidFill>
                  <a:srgbClr val="0F172A"/>
                </a:solidFill>
                <a:latin typeface="JetBrains Mono"/>
              </a:rPr>
              <a:t>Q3 • AI UPGRADE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38900" y="3609975"/>
            <a:ext cx="2775346" cy="2667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650" i="0" u="none">
                <a:solidFill>
                  <a:srgbClr val="0F172A"/>
                </a:solidFill>
                <a:latin typeface="Space Grotesk"/>
              </a:rPr>
              <a:t>Smart Alerts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38900" y="3971925"/>
            <a:ext cx="2209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475569"/>
                </a:solidFill>
                <a:latin typeface="DM Sans"/>
              </a:rPr>
              <a:t>Automated parent SMS shortage alerts.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239250" y="3343275"/>
            <a:ext cx="2643187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125" i="0" u="none">
                <a:solidFill>
                  <a:srgbClr val="0F172A"/>
                </a:solidFill>
                <a:latin typeface="JetBrains Mono"/>
              </a:rPr>
              <a:t>Q4 • SCALE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239250" y="3609975"/>
            <a:ext cx="2775346" cy="2667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650" i="0" u="none">
                <a:solidFill>
                  <a:srgbClr val="0F172A"/>
                </a:solidFill>
                <a:latin typeface="Space Grotesk"/>
              </a:rPr>
              <a:t>Multi-Campus SaaS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239250" y="3971925"/>
            <a:ext cx="2209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475569"/>
                </a:solidFill>
                <a:latin typeface="DM Sans"/>
              </a:rPr>
              <a:t>Institutional licensing across universities.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2800350"/>
            <a:ext cx="2571750" cy="2171700"/>
          </a:xfrm>
          <a:prstGeom prst="roundRect">
            <a:avLst>
              <a:gd name="adj" fmla="val 5263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3409950" y="2914650"/>
            <a:ext cx="2571750" cy="1943100"/>
          </a:xfrm>
          <a:prstGeom prst="roundRect">
            <a:avLst>
              <a:gd name="adj" fmla="val 5882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210300" y="2914650"/>
            <a:ext cx="2571750" cy="1943100"/>
          </a:xfrm>
          <a:prstGeom prst="roundRect">
            <a:avLst>
              <a:gd name="adj" fmla="val 5882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010650" y="2800350"/>
            <a:ext cx="2571750" cy="2171700"/>
          </a:xfrm>
          <a:prstGeom prst="roundRect">
            <a:avLst>
              <a:gd name="adj" fmla="val 5263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0284C7"/>
                </a:solidFill>
                <a:latin typeface="JetBrains Mono"/>
              </a:rPr>
              <a:t>EDUPULSE WEB APP | INTEGRATED CURRICULUM ENGINE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600" y="704850"/>
            <a:ext cx="11582400" cy="4381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700" i="0" u="none">
                <a:solidFill>
                  <a:srgbClr val="0F172A"/>
                </a:solidFill>
                <a:latin typeface="Space Grotesk"/>
              </a:rPr>
              <a:t>Live Curriculum &amp; Study Modules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38200" y="3105150"/>
            <a:ext cx="2643187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0284C7"/>
                </a:solidFill>
                <a:latin typeface="JetBrains Mono"/>
              </a:rPr>
              <a:t>MFC • 4 CREDITS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38200" y="3352800"/>
            <a:ext cx="2320290" cy="533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650" i="0" u="none">
                <a:solidFill>
                  <a:srgbClr val="0F172A"/>
                </a:solidFill>
                <a:latin typeface="Space Grotesk"/>
              </a:rPr>
              <a:t>Mathematics for Computation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8200" y="3981450"/>
            <a:ext cx="220980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475569"/>
                </a:solidFill>
                <a:latin typeface="DM Sans"/>
              </a:rPr>
              <a:t>Sets, matrices, combinatorics, Bayes probability.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38550" y="3219450"/>
            <a:ext cx="2643187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0284C7"/>
                </a:solidFill>
                <a:latin typeface="JetBrains Mono"/>
              </a:rPr>
              <a:t>PJ • 4 CREDITS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38550" y="3467100"/>
            <a:ext cx="2320290" cy="533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650" i="0" u="none">
                <a:solidFill>
                  <a:srgbClr val="0F172A"/>
                </a:solidFill>
                <a:latin typeface="Space Grotesk"/>
              </a:rPr>
              <a:t>Programming in Java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38550" y="4095750"/>
            <a:ext cx="2209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475569"/>
                </a:solidFill>
                <a:latin typeface="DM Sans"/>
              </a:rPr>
              <a:t>JVM foundations, OOP, polymorphism, collections.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38900" y="3219450"/>
            <a:ext cx="2643187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0284C7"/>
                </a:solidFill>
                <a:latin typeface="JetBrains Mono"/>
              </a:rPr>
              <a:t>DDCA • 4 CREDITS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38900" y="3467100"/>
            <a:ext cx="2320290" cy="533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650" i="0" u="none">
                <a:solidFill>
                  <a:srgbClr val="0F172A"/>
                </a:solidFill>
                <a:latin typeface="Space Grotesk"/>
              </a:rPr>
              <a:t>Digital Design &amp; Architecture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38900" y="4095750"/>
            <a:ext cx="2209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475569"/>
                </a:solidFill>
                <a:latin typeface="DM Sans"/>
              </a:rPr>
              <a:t>K-maps, flip-flops, CPU datapath hierarchy.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239250" y="3105150"/>
            <a:ext cx="2643187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0F172A"/>
                </a:solidFill>
                <a:latin typeface="JetBrains Mono"/>
              </a:rPr>
              <a:t>LSE • 2 CREDITS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239250" y="3352800"/>
            <a:ext cx="2320290" cy="533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650" i="0" u="none">
                <a:solidFill>
                  <a:srgbClr val="0F172A"/>
                </a:solidFill>
                <a:latin typeface="Space Grotesk"/>
              </a:rPr>
              <a:t>Language Skills for Engineering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239250" y="3981450"/>
            <a:ext cx="220980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475569"/>
                </a:solidFill>
                <a:latin typeface="DM Sans"/>
              </a:rPr>
              <a:t>Technical reports, presentations, interview etiquette.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2447925"/>
            <a:ext cx="5257800" cy="2876550"/>
          </a:xfrm>
          <a:prstGeom prst="roundRect">
            <a:avLst>
              <a:gd name="adj" fmla="val 5298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324600" y="2447925"/>
            <a:ext cx="5257800" cy="2876550"/>
          </a:xfrm>
          <a:prstGeom prst="roundRect">
            <a:avLst>
              <a:gd name="adj" fmla="val 5298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0284C7"/>
                </a:solidFill>
                <a:latin typeface="JetBrains Mono"/>
              </a:rPr>
              <a:t>EDUPULSE WEB APP | DUAL-ROLE INTERFACE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704850"/>
            <a:ext cx="11582400" cy="4381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700" i="0" u="none">
                <a:solidFill>
                  <a:srgbClr val="0F172A"/>
                </a:solidFill>
                <a:latin typeface="Space Grotesk"/>
              </a:rPr>
              <a:t>Student &amp; Teacher Portal Features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52500" y="2790825"/>
            <a:ext cx="6000750" cy="3238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950" i="0" u="none">
                <a:solidFill>
                  <a:srgbClr val="0284C7"/>
                </a:solidFill>
                <a:latin typeface="Space Grotesk"/>
              </a:rPr>
              <a:t>Student Portal (Aarav, Diya + 8)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667500" y="2790825"/>
            <a:ext cx="5524500" cy="3238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950" i="0" u="none">
                <a:solidFill>
                  <a:srgbClr val="0F172A"/>
                </a:solidFill>
                <a:latin typeface="Space Grotesk"/>
              </a:rPr>
              <a:t>Teacher Portal (Prof. Anita Rao)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52500" y="3286125"/>
            <a:ext cx="4667250" cy="476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425" i="0" u="none">
                <a:solidFill>
                  <a:srgbClr val="334155"/>
                </a:solidFill>
                <a:latin typeface="DM Sans"/>
              </a:rPr>
              <a:t>30-Session Heatmap:</a:t>
            </a:r>
            <a:r>
              <a:rPr b="0" sz="1425" i="0" u="none">
                <a:solidFill>
                  <a:srgbClr val="334155"/>
                </a:solidFill>
                <a:latin typeface="DM Sans"/>
              </a:rPr>
              <a:t> Visual grid of Present, Late, Absent history.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52500" y="3895725"/>
            <a:ext cx="4667250" cy="476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425" i="0" u="none">
                <a:solidFill>
                  <a:srgbClr val="334155"/>
                </a:solidFill>
                <a:latin typeface="DM Sans"/>
              </a:rPr>
              <a:t>Skip &amp; Recovery Calculator:</a:t>
            </a:r>
            <a:r>
              <a:rPr b="0" sz="1425" i="0" u="none">
                <a:solidFill>
                  <a:srgbClr val="334155"/>
                </a:solidFill>
                <a:latin typeface="DM Sans"/>
              </a:rPr>
              <a:t> Exact classes needed to reach 75%.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52500" y="4505325"/>
            <a:ext cx="4667250" cy="476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425" i="0" u="none">
                <a:solidFill>
                  <a:srgbClr val="334155"/>
                </a:solidFill>
                <a:latin typeface="DM Sans"/>
              </a:rPr>
              <a:t>Topic Checklists &amp; Notes:</a:t>
            </a:r>
            <a:r>
              <a:rPr b="0" sz="1425" i="0" u="none">
                <a:solidFill>
                  <a:srgbClr val="334155"/>
                </a:solidFill>
                <a:latin typeface="DM Sans"/>
              </a:rPr>
              <a:t> Unit-wise study notes with progress rings.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67500" y="3286125"/>
            <a:ext cx="4667250" cy="476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425" i="0" u="none">
                <a:solidFill>
                  <a:srgbClr val="334155"/>
                </a:solidFill>
                <a:latin typeface="DM Sans"/>
              </a:rPr>
              <a:t>Rapid Keyboard Marking:</a:t>
            </a:r>
            <a:r>
              <a:rPr b="0" sz="1425" i="0" u="none">
                <a:solidFill>
                  <a:srgbClr val="334155"/>
                </a:solidFill>
                <a:latin typeface="DM Sans"/>
              </a:rPr>
              <a:t> Press P, A, or L with arrow navigation.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67500" y="3895725"/>
            <a:ext cx="4667250" cy="476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425" i="0" u="none">
                <a:solidFill>
                  <a:srgbClr val="334155"/>
                </a:solidFill>
                <a:latin typeface="DM Sans"/>
              </a:rPr>
              <a:t>At-Risk Cohort Radar:</a:t>
            </a:r>
            <a:r>
              <a:rPr b="0" sz="1425" i="0" u="none">
                <a:solidFill>
                  <a:srgbClr val="334155"/>
                </a:solidFill>
                <a:latin typeface="DM Sans"/>
              </a:rPr>
              <a:t> Instant filter for students below 75%.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67500" y="4505325"/>
            <a:ext cx="4667250" cy="476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425" i="0" u="none">
                <a:solidFill>
                  <a:srgbClr val="334155"/>
                </a:solidFill>
                <a:latin typeface="DM Sans"/>
              </a:rPr>
              <a:t>Live Syllabus Sync:</a:t>
            </a:r>
            <a:r>
              <a:rPr b="0" sz="1425" i="0" u="none">
                <a:solidFill>
                  <a:srgbClr val="334155"/>
                </a:solidFill>
                <a:latin typeface="DM Sans"/>
              </a:rPr>
              <a:t> One-click "Taught" badge updates student views.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2784127"/>
            <a:ext cx="5638800" cy="2203995"/>
          </a:xfrm>
          <a:prstGeom prst="roundRect">
            <a:avLst>
              <a:gd name="adj" fmla="val 6914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705600" y="2181225"/>
            <a:ext cx="4876800" cy="1162050"/>
          </a:xfrm>
          <a:prstGeom prst="roundRect">
            <a:avLst>
              <a:gd name="adj" fmla="val 9836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705600" y="3533775"/>
            <a:ext cx="4876800" cy="933450"/>
          </a:xfrm>
          <a:prstGeom prst="roundRect">
            <a:avLst>
              <a:gd name="adj" fmla="val 12244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705600" y="4657725"/>
            <a:ext cx="4876800" cy="933450"/>
          </a:xfrm>
          <a:prstGeom prst="roundRect">
            <a:avLst>
              <a:gd name="adj" fmla="val 12244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0600" y="3697485"/>
            <a:ext cx="3226147" cy="261937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0284C7"/>
                </a:solidFill>
                <a:latin typeface="JetBrains Mono"/>
              </a:rPr>
              <a:t>EDUPULSE WEB APP | ALGORITHMIC TRANSPARENCY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600" y="704850"/>
            <a:ext cx="11582400" cy="4381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700" i="0" u="none">
                <a:solidFill>
                  <a:srgbClr val="0F172A"/>
                </a:solidFill>
                <a:latin typeface="Space Grotesk"/>
              </a:rPr>
              <a:t>Attendance Calculation &amp; Risk Thresholds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90600" y="3165127"/>
            <a:ext cx="6400800" cy="2952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800" i="0" u="none">
                <a:solidFill>
                  <a:srgbClr val="0F172A"/>
                </a:solidFill>
                <a:latin typeface="Space Grotesk"/>
              </a:rPr>
              <a:t>Weighted Session Formula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90600" y="4149923"/>
            <a:ext cx="497205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475569"/>
                </a:solidFill>
                <a:latin typeface="DM Sans"/>
              </a:rPr>
              <a:t>Half-attendance credit for late arrivals prevents unfair zero-credit penalties.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72300" y="2390775"/>
            <a:ext cx="5219700" cy="2476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15803D"/>
                </a:solidFill>
                <a:latin typeface="Space Grotesk"/>
              </a:rPr>
              <a:t>Safe Status (≥ 75%)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72300" y="2676525"/>
            <a:ext cx="443865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475569"/>
                </a:solidFill>
                <a:latin typeface="DM Sans"/>
              </a:rPr>
              <a:t>Displays exact number of safe classes a student can miss.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72300" y="3743325"/>
            <a:ext cx="5219700" cy="2476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B45309"/>
                </a:solidFill>
                <a:latin typeface="Space Grotesk"/>
              </a:rPr>
              <a:t>At Risk Status (65% – 74%)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72300" y="4029075"/>
            <a:ext cx="5219700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475569"/>
                </a:solidFill>
                <a:latin typeface="DM Sans"/>
              </a:rPr>
              <a:t>Triggers consecutive class recovery counter.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72300" y="4867275"/>
            <a:ext cx="5219700" cy="2476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B91C1C"/>
                </a:solidFill>
                <a:latin typeface="Space Grotesk"/>
              </a:rPr>
              <a:t>Critical Status (&lt; 65%)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72300" y="5153025"/>
            <a:ext cx="5219700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475569"/>
                </a:solidFill>
                <a:latin typeface="DM Sans"/>
              </a:rPr>
              <a:t>Flags student on Prof. Anita Rao's faculty dashboard.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31406" y="2247900"/>
            <a:ext cx="4929187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0" sz="1125" i="0" u="none">
                <a:solidFill>
                  <a:srgbClr val="38BDF8"/>
                </a:solidFill>
                <a:latin typeface="JetBrains Mono"/>
              </a:rPr>
              <a:t>DTIE END SEMESTER PITCH DECK | PROJECT BATCH-A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270521" y="2590800"/>
            <a:ext cx="7650956" cy="6762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4200" i="0" u="none">
                <a:solidFill>
                  <a:srgbClr val="F8FAFC"/>
                </a:solidFill>
                <a:latin typeface="Space Grotesk"/>
              </a:rPr>
              <a:t>Thank You &amp; Live Demo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047875" y="3457575"/>
            <a:ext cx="8096250" cy="552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1650" i="0" u="none">
                <a:solidFill>
                  <a:srgbClr val="94A3B8"/>
                </a:solidFill>
                <a:latin typeface="DM Sans"/>
              </a:rPr>
              <a:t>Explore the live EduPulse Student Curriculum &amp; Attendance System prototype: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012281" y="4314825"/>
            <a:ext cx="6167437" cy="2952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0" sz="1800" i="0" u="none">
                <a:solidFill>
                  <a:srgbClr val="F97316"/>
                </a:solidFill>
                <a:latin typeface="JetBrains Mono"/>
              </a:rPr>
              <a:t>https://edupulse-one-fawn.vercel.app/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71500" y="866775"/>
            <a:ext cx="11049000" cy="77152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71500" y="1628775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71500" y="1628775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" y="1009650"/>
            <a:ext cx="857250" cy="47625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1781175"/>
            <a:ext cx="857250" cy="47625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71500" y="571500"/>
            <a:ext cx="2187773" cy="2952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800" i="0" u="none">
                <a:solidFill>
                  <a:srgbClr val="000000"/>
                </a:solidFill>
                <a:latin typeface="DM Sans"/>
              </a:rPr>
              <a:t>Image Sources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66875" y="1042987"/>
            <a:ext cx="10525125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000000"/>
                </a:solidFill>
                <a:latin typeface="DM Sans"/>
              </a:rPr>
              <a:t>https://img.magnific.com/premium-photo/black-university-student-using-laptop-class-modern-university-lecture-hall-college_324489-8705.jpg?w=360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66875" y="1252537"/>
            <a:ext cx="2309812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000000"/>
                </a:solidFill>
                <a:latin typeface="DM Sans"/>
              </a:rPr>
              <a:t>Source: </a:t>
            </a:r>
            <a:r>
              <a:rPr b="0" sz="1200" i="0" u="none">
                <a:solidFill>
                  <a:srgbClr val="4F46E5"/>
                </a:solidFill>
                <a:latin typeface="DM Sans"/>
              </a:rPr>
              <a:t>www.magnific.com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66875" y="1814512"/>
            <a:ext cx="8108156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000000"/>
                </a:solidFill>
                <a:latin typeface="DM Sans"/>
              </a:rPr>
              <a:t>https://irp.cdn-website.com/26daf2b1/dms3rep/multi/opt/e947225c-74c4-4bc9-8c89-4b6469b12c02-640w.png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66875" y="2024062"/>
            <a:ext cx="2202656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000000"/>
                </a:solidFill>
                <a:latin typeface="DM Sans"/>
              </a:rPr>
              <a:t>Source: </a:t>
            </a:r>
            <a:r>
              <a:rPr b="0" sz="1200" i="0" u="none">
                <a:solidFill>
                  <a:srgbClr val="4F46E5"/>
                </a:solidFill>
                <a:latin typeface="DM Sans"/>
              </a:rPr>
              <a:t>www.ezpages.pro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